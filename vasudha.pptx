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6153"/>
    <a:srgbClr val="FDE8CB"/>
    <a:srgbClr val="798372"/>
    <a:srgbClr val="6B7565"/>
    <a:srgbClr val="FCD7A6"/>
    <a:srgbClr val="666666"/>
    <a:srgbClr val="788372"/>
    <a:srgbClr val="B6B8B4"/>
    <a:srgbClr val="F09252"/>
    <a:srgbClr val="F3EA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" dt="2026-09-08T20:36:39.841"/>
    <p1510:client id="{42EFB3CC-58DE-4B36-B943-2DA6250C107C}" v="19" dt="2026-09-08T13:44:44.336"/>
    <p1510:client id="{4A575B88-7A2C-4AD9-941A-58ED3E57E51E}" v="1" dt="2026-09-08T20:20:18.241"/>
    <p1510:client id="{5573A874-6548-46FF-AA81-1FA64BF2CB71}" v="108" dt="2026-09-08T12:39:45.6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AF3C1-F62B-4D4F-A997-F69032E21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0A1188-FE71-4B87-A5B1-DEA7C7844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638D9-3DB8-49A9-B205-76E8125A5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FDBB7-B73E-483F-92EB-E86BEF09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CCD9A-F48C-43AB-88AC-CEBFA6C8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478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C1CC0-C447-4CA0-9302-308C505A9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2467C-593A-4873-8AED-A88C8ACA4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62668-0529-40ED-9535-C9E0C4CAD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72975-6883-4230-9468-9FC1A200D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D103C-358F-4102-9C86-CFED7A1C1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998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F058E-33FC-412C-A3B8-80F2C8D07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DF020-4281-4976-877A-083D6808C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1F2D3-0EFB-4C3F-9AC3-5F9D74FB3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EEE3B-70D1-4FB3-9759-33CEEEF1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AD0BB-3658-4783-B430-5E9814905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360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87180-4C20-4860-871D-7F3C4029A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19ED2-F6DD-4A2D-8BA0-16EB3A1DB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D2E32-88B9-4FC6-B8E5-7BB90EE12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8C45F-3638-486A-8AFC-E68399F9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734DF-BFE6-4B80-B84C-42245E2C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F2390-6248-4550-8914-96064CA2E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43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650B7-6EDC-43EB-923C-360D45EE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2A164-D0F4-4A8F-BB90-1F17EB7A5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F0FC0-9B1C-4EE3-AF90-D0F5D572A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94E5C1-1A34-46E7-990B-C833DEBA55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11F25B-CE0E-48E3-AC35-C858FBEA6C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A5BAE7-5F1B-43D6-AE1A-0EF226DAC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8DE540-FB52-4493-A7D6-F09DB3DA9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F86D39-E0C5-4C13-8FA7-8534F21D5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397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2159F-0402-4886-BEF3-AC8EE7572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0F5A84-F24A-4613-A818-A24DEA472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F3DF08-66C7-449D-A9D5-2E5C33B9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CF8EB-B624-4161-B694-674C870F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03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1840E0-FCF2-4841-8346-3F2253A8E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E8CE2-75A6-4A5F-AFD5-62D27E3B8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991C8-8D06-4570-9311-05A5BCA14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00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85413-C1CB-402C-84FD-6A59C8C0B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9B9E6-EEA2-406F-AEB8-8CEDC7E50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0D8D91-43B1-4A38-8442-872ADB57A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A22DC-CFAF-4B15-A711-B7E17F61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AD38C-8DE6-45B2-945E-577C38901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4BF5F-EC72-4008-8517-73ABD48FF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800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4427B-25DF-4A76-B687-AA24B77C2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F2D80A-C0B4-42AF-8C90-350D718A58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20C087-1888-4341-B89B-CA8F6A053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A334F-536A-48BA-AC01-A69DE80D6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BF03A-3E6F-4B24-9DC2-686460647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BA20F-CC5F-4C5E-9E53-591C3512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47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22659-D1A9-4FFD-ABC0-F895E733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15F90-4D98-441C-BCFC-8A159B3CE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59748-4337-4111-9D9B-02028ACAE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9071A-5AF6-4084-ADEE-8B8E3491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54AA0-90C4-4D08-80CE-E1868E62F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900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6547CA-463A-4DB7-B9BD-CC5AE13599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E12B0-2EFC-4964-944E-B3F98769B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957B6-5033-4593-9137-03D63A12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462F9-F445-42AB-BA7A-A840319CBB3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21636-1D83-4905-9F81-8EA0A7C9C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3D606-9CD4-435B-937B-035B0C54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468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BB4132-0DCF-4043-9178-B77DAF41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ADBAC-E16E-4367-8E92-E24B1E4DD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883F4-4279-4BE3-904D-BD94D1F38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462F9-F445-42AB-BA7A-A840319CBB3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34609-C1C8-4457-9466-D8E09A5EE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2FAEB-F171-41A3-898C-DE04629FD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8D1FB-D06D-49EE-B245-77C82750A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203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8"/>
                    </a14:imgEffect>
                  </a14:imgLayer>
                </a14:imgProps>
              </a:ext>
            </a:extLst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6F6A265-B7E2-4542-8021-494CC558D8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4194" y="0"/>
            <a:ext cx="13082209" cy="73587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BBBE26-F7C1-4C8D-98BD-F2E6880AF0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" t="-460" r="-307" b="460"/>
          <a:stretch>
            <a:fillRect/>
          </a:stretch>
        </p:blipFill>
        <p:spPr>
          <a:xfrm>
            <a:off x="-296033" y="1361619"/>
            <a:ext cx="7467895" cy="4992378"/>
          </a:xfrm>
          <a:prstGeom prst="rect">
            <a:avLst/>
          </a:prstGeom>
          <a:effectLst>
            <a:softEdge rad="46990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6670B47-5C89-4BE7-ACEE-B950E62F1632}"/>
              </a:ext>
            </a:extLst>
          </p:cNvPr>
          <p:cNvSpPr/>
          <p:nvPr/>
        </p:nvSpPr>
        <p:spPr>
          <a:xfrm>
            <a:off x="7267585" y="401086"/>
            <a:ext cx="4569491" cy="212365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6600">
                <a:solidFill>
                  <a:srgbClr val="F09252"/>
                </a:solidFill>
                <a:latin typeface="Times New Roman"/>
                <a:cs typeface="Times New Roman"/>
              </a:rPr>
              <a:t>          VASUDHA         </a:t>
            </a:r>
            <a:endParaRPr lang="en-IN" sz="6600">
              <a:solidFill>
                <a:srgbClr val="F0925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F869FA-85BA-415A-8090-2FBDDBE6DB95}"/>
              </a:ext>
            </a:extLst>
          </p:cNvPr>
          <p:cNvSpPr/>
          <p:nvPr/>
        </p:nvSpPr>
        <p:spPr>
          <a:xfrm>
            <a:off x="7061212" y="3754434"/>
            <a:ext cx="57068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hi-IN" sz="32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फसल</a:t>
            </a:r>
            <a:r>
              <a:rPr lang="en-IN" sz="32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 Apna Doctor.</a:t>
            </a:r>
          </a:p>
        </p:txBody>
      </p:sp>
      <p:sp useBgFill="1"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A1D617-0EEE-4AAC-9189-286F4546446F}"/>
              </a:ext>
            </a:extLst>
          </p:cNvPr>
          <p:cNvSpPr/>
          <p:nvPr/>
        </p:nvSpPr>
        <p:spPr>
          <a:xfrm>
            <a:off x="8847165" y="6180010"/>
            <a:ext cx="2960976" cy="400110"/>
          </a:xfrm>
          <a:prstGeom prst="round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7E8A52-B0FB-4E88-B066-B599478B508D}"/>
              </a:ext>
            </a:extLst>
          </p:cNvPr>
          <p:cNvSpPr txBox="1"/>
          <p:nvPr/>
        </p:nvSpPr>
        <p:spPr>
          <a:xfrm>
            <a:off x="8789798" y="6180010"/>
            <a:ext cx="3075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Team-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FLAG SMASHERS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150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A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E79327-39CE-4F3D-86DE-287631151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1835" y="-883968"/>
            <a:ext cx="6106045" cy="8254586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9FB6D3A-D9A0-460B-85C5-F8A941A380D1}"/>
              </a:ext>
            </a:extLst>
          </p:cNvPr>
          <p:cNvSpPr/>
          <p:nvPr/>
        </p:nvSpPr>
        <p:spPr>
          <a:xfrm>
            <a:off x="5632407" y="567254"/>
            <a:ext cx="655959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5861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 of Turning Every Smartphone into a Smart Crop Doctor</a:t>
            </a:r>
            <a:endParaRPr lang="en-IN" sz="2800" b="1">
              <a:solidFill>
                <a:srgbClr val="58615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A0E053-4397-4C3B-8B83-834746ED65AB}"/>
              </a:ext>
            </a:extLst>
          </p:cNvPr>
          <p:cNvSpPr/>
          <p:nvPr/>
        </p:nvSpPr>
        <p:spPr>
          <a:xfrm>
            <a:off x="5978151" y="1794535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Global Crop Loss-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Diseases destroy up to 40% of crop yield worldwide. 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Risk to Every Farmer-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Pests and diseases are widespread, making most farmers vulnerable.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Major Financial Loss (India)-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Farmers lose 15–25% income each season due to crop failure.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Core Issue Late Detection-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Delayed identification leads to large-scale damage and preventable losses.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33FB780-974A-42A1-BE8C-96B81A20A8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8082" y="3473055"/>
            <a:ext cx="310487" cy="36908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BB594F9-F73B-4000-85AE-52DF162A20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8082" y="1823751"/>
            <a:ext cx="304800" cy="30193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1CC36DD-89A1-48CD-88D8-EC8DE3EFF1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8082" y="4315212"/>
            <a:ext cx="304800" cy="30193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E36B570-701D-4902-94E7-EF465BDF1C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04820" y="2626188"/>
            <a:ext cx="304800" cy="301933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91BBC45-B2E9-4F9D-8343-2A8ABF23BC1A}"/>
              </a:ext>
            </a:extLst>
          </p:cNvPr>
          <p:cNvSpPr/>
          <p:nvPr/>
        </p:nvSpPr>
        <p:spPr>
          <a:xfrm>
            <a:off x="5676350" y="243046"/>
            <a:ext cx="1454588" cy="158363"/>
          </a:xfrm>
          <a:prstGeom prst="roundRect">
            <a:avLst/>
          </a:prstGeom>
          <a:solidFill>
            <a:srgbClr val="798372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1F7981-0590-43F1-BAB6-93E5125CD5C1}"/>
              </a:ext>
            </a:extLst>
          </p:cNvPr>
          <p:cNvSpPr/>
          <p:nvPr/>
        </p:nvSpPr>
        <p:spPr>
          <a:xfrm>
            <a:off x="5632407" y="5229103"/>
            <a:ext cx="6481039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>
                <a:solidFill>
                  <a:srgbClr val="586153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Farmers don’t lose crops because solutions don’t exist — they lose them because detection happens too late</a:t>
            </a:r>
          </a:p>
        </p:txBody>
      </p:sp>
    </p:spTree>
    <p:extLst>
      <p:ext uri="{BB962C8B-B14F-4D97-AF65-F5344CB8AC3E}">
        <p14:creationId xmlns:p14="http://schemas.microsoft.com/office/powerpoint/2010/main" val="2709251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A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66D465-CAF8-4CE2-9B7C-C2D0B4DD4791}"/>
              </a:ext>
            </a:extLst>
          </p:cNvPr>
          <p:cNvSpPr/>
          <p:nvPr/>
        </p:nvSpPr>
        <p:spPr>
          <a:xfrm>
            <a:off x="251670" y="109057"/>
            <a:ext cx="3185261" cy="1008905"/>
          </a:xfrm>
          <a:prstGeom prst="roundRect">
            <a:avLst/>
          </a:prstGeom>
          <a:solidFill>
            <a:srgbClr val="798372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B60E8C-19B9-493F-8C92-86315A12593D}"/>
              </a:ext>
            </a:extLst>
          </p:cNvPr>
          <p:cNvSpPr/>
          <p:nvPr/>
        </p:nvSpPr>
        <p:spPr>
          <a:xfrm>
            <a:off x="1687843" y="1321818"/>
            <a:ext cx="2618215" cy="4616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2400" b="1">
                <a:solidFill>
                  <a:srgbClr val="586153"/>
                </a:solidFill>
                <a:latin typeface="Times New Roman"/>
                <a:cs typeface="Times New Roman"/>
              </a:rPr>
              <a:t>VASUDHA</a:t>
            </a:r>
            <a:endParaRPr lang="en-IN" sz="2400" b="1">
              <a:solidFill>
                <a:srgbClr val="58615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EB92A7-37CC-4478-9709-3B0BFADB88B5}"/>
              </a:ext>
            </a:extLst>
          </p:cNvPr>
          <p:cNvSpPr/>
          <p:nvPr/>
        </p:nvSpPr>
        <p:spPr>
          <a:xfrm>
            <a:off x="420113" y="1966008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Early Disease Detection-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crop diseases quickly to prevent major losses.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AI-Powered Diagnosis-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Provides accurate, Indian data-driven insights for better decisions.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Localized Treatment Advice-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Delivers region-specific guidance in the farmer’s preferred language.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Smart Field Monitoring-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Uses images, drones, and rover for precise crop health analysis.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Higher Yield, Lower Loss-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Helps farmers protect crops, reduce waste, and increase income.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ECBAD1-9A69-FCF4-A0CC-2428C7F4B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339" y="426128"/>
            <a:ext cx="4504308" cy="600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02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DA3C418-758E-4180-A5D0-8655D680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C8EF06-5EC3-4883-AFAF-D74FF465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B6DB51-ACCA-DB4E-89B9-5D2EDD367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9" r="5750" b="-1"/>
          <a:stretch>
            <a:fillRect/>
          </a:stretch>
        </p:blipFill>
        <p:spPr>
          <a:xfrm>
            <a:off x="2915455" y="-9134"/>
            <a:ext cx="9276545" cy="685799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8A7479-251A-413A-92BE-316BEBE8BDC0}"/>
              </a:ext>
            </a:extLst>
          </p:cNvPr>
          <p:cNvSpPr/>
          <p:nvPr/>
        </p:nvSpPr>
        <p:spPr>
          <a:xfrm>
            <a:off x="256670" y="2857500"/>
            <a:ext cx="3161940" cy="13674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FLOW OF SOLUTION</a:t>
            </a:r>
          </a:p>
        </p:txBody>
      </p:sp>
    </p:spTree>
    <p:extLst>
      <p:ext uri="{BB962C8B-B14F-4D97-AF65-F5344CB8AC3E}">
        <p14:creationId xmlns:p14="http://schemas.microsoft.com/office/powerpoint/2010/main" val="2479723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C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A9FFE-5C8B-00B2-BEDD-14257C5E1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41C3BE-CA5D-687D-21A0-A7B5CD75901C}"/>
              </a:ext>
            </a:extLst>
          </p:cNvPr>
          <p:cNvSpPr/>
          <p:nvPr/>
        </p:nvSpPr>
        <p:spPr>
          <a:xfrm>
            <a:off x="3958701" y="117446"/>
            <a:ext cx="4274597" cy="833466"/>
          </a:xfrm>
          <a:prstGeom prst="roundRect">
            <a:avLst/>
          </a:prstGeom>
          <a:solidFill>
            <a:srgbClr val="798372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COMPARING DIFFERENT CNN ARCHITECTURES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01ABD3-C8F6-826D-D89D-265DFD061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316" y="1356412"/>
            <a:ext cx="5340107" cy="4279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A51E93-B339-4929-C5A0-0AC23282D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64" y="1356412"/>
            <a:ext cx="5340107" cy="4279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925774-1686-162F-5EE2-C46D9DC7BB07}"/>
              </a:ext>
            </a:extLst>
          </p:cNvPr>
          <p:cNvSpPr txBox="1"/>
          <p:nvPr/>
        </p:nvSpPr>
        <p:spPr>
          <a:xfrm>
            <a:off x="589464" y="5947794"/>
            <a:ext cx="832713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000" b="1"/>
              <a:t>#Training Dataset collected from India ,Bangladesh ,Pakistan &amp; Nepal regions</a:t>
            </a:r>
            <a:endParaRPr lang="en-IN" sz="2000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1712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8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6349BE-1035-62C4-179C-008A53ED2FE6}"/>
              </a:ext>
            </a:extLst>
          </p:cNvPr>
          <p:cNvSpPr/>
          <p:nvPr/>
        </p:nvSpPr>
        <p:spPr>
          <a:xfrm>
            <a:off x="2373182" y="72468"/>
            <a:ext cx="4274597" cy="833466"/>
          </a:xfrm>
          <a:prstGeom prst="roundRect">
            <a:avLst/>
          </a:prstGeom>
          <a:solidFill>
            <a:srgbClr val="798372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ROVER PREDICTION WORKS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36B2C0-316E-B814-5ABB-484EB6EA5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104" y="3464558"/>
            <a:ext cx="2484636" cy="33115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E4F76D-3E90-5CA5-DE7E-A12D9C111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05" y="998409"/>
            <a:ext cx="2648239" cy="22704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E52E66-FE87-36A4-2596-F7AD7B5764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8409"/>
            <a:ext cx="2648240" cy="2292617"/>
          </a:xfrm>
          <a:prstGeom prst="rect">
            <a:avLst/>
          </a:prstGeom>
        </p:spPr>
      </p:pic>
      <p:sp>
        <p:nvSpPr>
          <p:cNvPr id="13" name="Arrow: Bent 12">
            <a:extLst>
              <a:ext uri="{FF2B5EF4-FFF2-40B4-BE49-F238E27FC236}">
                <a16:creationId xmlns:a16="http://schemas.microsoft.com/office/drawing/2014/main" id="{B88B38D7-9D96-B4BF-F008-7FC2A6B034B7}"/>
              </a:ext>
            </a:extLst>
          </p:cNvPr>
          <p:cNvSpPr/>
          <p:nvPr/>
        </p:nvSpPr>
        <p:spPr>
          <a:xfrm rot="16200000">
            <a:off x="1100681" y="3772978"/>
            <a:ext cx="1533507" cy="1856419"/>
          </a:xfrm>
          <a:prstGeom prst="ben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2BD732C3-10CD-1F65-4499-D3A70BA7AE29}"/>
              </a:ext>
            </a:extLst>
          </p:cNvPr>
          <p:cNvSpPr/>
          <p:nvPr/>
        </p:nvSpPr>
        <p:spPr>
          <a:xfrm rot="16200000" flipV="1">
            <a:off x="5932508" y="3710999"/>
            <a:ext cx="1533507" cy="1980376"/>
          </a:xfrm>
          <a:prstGeom prst="ben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D1069F-FBEB-FC47-87B2-2F6C8A571391}"/>
              </a:ext>
            </a:extLst>
          </p:cNvPr>
          <p:cNvSpPr txBox="1"/>
          <p:nvPr/>
        </p:nvSpPr>
        <p:spPr>
          <a:xfrm>
            <a:off x="2663721" y="1425753"/>
            <a:ext cx="3335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/>
              <a:t>Can develop into 2 different diseases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CCDF1F-4A82-58BC-BB62-F51B039F762B}"/>
              </a:ext>
            </a:extLst>
          </p:cNvPr>
          <p:cNvSpPr txBox="1"/>
          <p:nvPr/>
        </p:nvSpPr>
        <p:spPr>
          <a:xfrm>
            <a:off x="2663721" y="2269829"/>
            <a:ext cx="35642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50"/>
              <a:t>Rover take live environmental data from farm like temperature ,humidity, mineral values and then rules out the possible diseases that can occur.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4237C6-D1DC-7036-E9A9-8107A4C9CC1D}"/>
              </a:ext>
            </a:extLst>
          </p:cNvPr>
          <p:cNvSpPr txBox="1"/>
          <p:nvPr/>
        </p:nvSpPr>
        <p:spPr>
          <a:xfrm>
            <a:off x="652150" y="629077"/>
            <a:ext cx="187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BROWN SPOT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EA3D99-6F43-F241-6D3E-88C9106D1ABD}"/>
              </a:ext>
            </a:extLst>
          </p:cNvPr>
          <p:cNvSpPr txBox="1"/>
          <p:nvPr/>
        </p:nvSpPr>
        <p:spPr>
          <a:xfrm>
            <a:off x="7015993" y="582840"/>
            <a:ext cx="2416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BLIGHT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E5B11D-CAA6-BBC0-1924-922F39D3F23A}"/>
              </a:ext>
            </a:extLst>
          </p:cNvPr>
          <p:cNvSpPr txBox="1"/>
          <p:nvPr/>
        </p:nvSpPr>
        <p:spPr>
          <a:xfrm>
            <a:off x="5613690" y="5698412"/>
            <a:ext cx="38994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/>
              <a:t>Disease=?</a:t>
            </a:r>
          </a:p>
          <a:p>
            <a:r>
              <a:rPr lang="en-IN" sz="2000" b="1"/>
              <a:t>Temperature=33    Nitrogen = 243</a:t>
            </a:r>
            <a:br>
              <a:rPr lang="en-IN" sz="2000" b="1"/>
            </a:br>
            <a:r>
              <a:rPr lang="en-IN" sz="2000" b="1"/>
              <a:t>Humidity =120       UV Index = 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44CF3D-81A8-D9CA-74B9-7BCBAEE62541}"/>
              </a:ext>
            </a:extLst>
          </p:cNvPr>
          <p:cNvSpPr/>
          <p:nvPr/>
        </p:nvSpPr>
        <p:spPr>
          <a:xfrm>
            <a:off x="8925019" y="447298"/>
            <a:ext cx="3188238" cy="5353924"/>
          </a:xfrm>
          <a:prstGeom prst="rect">
            <a:avLst/>
          </a:prstGeom>
          <a:solidFill>
            <a:srgbClr val="FDE8C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2AF46B-201F-3A77-B84F-3081494A78E7}"/>
              </a:ext>
            </a:extLst>
          </p:cNvPr>
          <p:cNvSpPr txBox="1"/>
          <p:nvPr/>
        </p:nvSpPr>
        <p:spPr>
          <a:xfrm>
            <a:off x="8925018" y="582840"/>
            <a:ext cx="33690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/>
              <a:t>Major competitor- </a:t>
            </a:r>
          </a:p>
          <a:p>
            <a:r>
              <a:rPr lang="en-IN" sz="2200" b="1" err="1"/>
              <a:t>Plantix</a:t>
            </a:r>
            <a:endParaRPr lang="en-IN" sz="22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F76E0-6AAF-D375-6286-0BEB70062959}"/>
              </a:ext>
            </a:extLst>
          </p:cNvPr>
          <p:cNvSpPr txBox="1"/>
          <p:nvPr/>
        </p:nvSpPr>
        <p:spPr>
          <a:xfrm>
            <a:off x="8925018" y="1553099"/>
            <a:ext cx="32669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err="1"/>
              <a:t>Plantix</a:t>
            </a:r>
            <a:r>
              <a:rPr lang="en-IN"/>
              <a:t> only provides the </a:t>
            </a:r>
            <a:r>
              <a:rPr lang="en-IN" b="1"/>
              <a:t>classification</a:t>
            </a:r>
            <a:r>
              <a:rPr lang="en-IN"/>
              <a:t> of diseased crops taking only a single input without doing </a:t>
            </a:r>
            <a:r>
              <a:rPr lang="en-IN" b="1"/>
              <a:t>image quality scoring.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F589D5-311B-536D-8CEC-C84755B6B02A}"/>
              </a:ext>
            </a:extLst>
          </p:cNvPr>
          <p:cNvSpPr txBox="1"/>
          <p:nvPr/>
        </p:nvSpPr>
        <p:spPr>
          <a:xfrm>
            <a:off x="8997196" y="3313557"/>
            <a:ext cx="31160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We recommend farmers to input </a:t>
            </a:r>
            <a:r>
              <a:rPr lang="en-IN" b="1"/>
              <a:t>multiple images  (&gt;5) </a:t>
            </a:r>
          </a:p>
          <a:p>
            <a:r>
              <a:rPr lang="en-IN"/>
              <a:t>We do </a:t>
            </a:r>
            <a:r>
              <a:rPr lang="en-IN" b="1"/>
              <a:t>image quality scoring </a:t>
            </a:r>
            <a:r>
              <a:rPr lang="en-IN"/>
              <a:t>and then add its weightage to final classification.</a:t>
            </a:r>
            <a:br>
              <a:rPr lang="en-IN"/>
            </a:br>
            <a:r>
              <a:rPr lang="en-IN"/>
              <a:t>We also do </a:t>
            </a:r>
            <a:r>
              <a:rPr lang="en-IN" b="1"/>
              <a:t>prediction</a:t>
            </a:r>
            <a:r>
              <a:rPr lang="en-IN"/>
              <a:t> through our rover using environmental data collection and processing.</a:t>
            </a:r>
          </a:p>
        </p:txBody>
      </p:sp>
    </p:spTree>
    <p:extLst>
      <p:ext uri="{BB962C8B-B14F-4D97-AF65-F5344CB8AC3E}">
        <p14:creationId xmlns:p14="http://schemas.microsoft.com/office/powerpoint/2010/main" val="2491351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3CAC32-E995-B8AB-BBAE-F717C94A0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52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Harshvardhan Bajpai</dc:creator>
  <cp:lastModifiedBy>Harshvardhan Bajpai</cp:lastModifiedBy>
  <cp:revision>3</cp:revision>
  <dcterms:created xsi:type="dcterms:W3CDTF">2026-02-18T07:30:23Z</dcterms:created>
  <dcterms:modified xsi:type="dcterms:W3CDTF">2026-09-08T21:48:34Z</dcterms:modified>
</cp:coreProperties>
</file>